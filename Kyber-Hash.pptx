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7772400" cy="1005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0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iuy5x4CTp8KFBVlRE+caCLzQSw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08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customschemas.google.com/relationships/presentationmetadata" Target="metadata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402138" y="0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3575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Good Morning Everyone!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My topic for my Seminar is Methods for finding Polynomial Multiplication on Friendly rings </a:t>
            </a:r>
            <a:endParaRPr/>
          </a:p>
        </p:txBody>
      </p:sp>
      <p:sp>
        <p:nvSpPr>
          <p:cNvPr id="151" name="Google Shape;151;p1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the Equation for finding Nega-Cyclic NTT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These are Viable Techniques which can be used for finding Nega-Cyclic NTT</a:t>
            </a:r>
            <a:endParaRPr/>
          </a:p>
        </p:txBody>
      </p:sp>
      <p:sp>
        <p:nvSpPr>
          <p:cNvPr id="159" name="Google Shape;159;p2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17072ef938_0_0:notes"/>
          <p:cNvSpPr/>
          <p:nvPr>
            <p:ph idx="2" type="sldImg"/>
          </p:nvPr>
        </p:nvSpPr>
        <p:spPr>
          <a:xfrm>
            <a:off x="869950" y="1257300"/>
            <a:ext cx="6032400" cy="3394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17072ef938_0_0:notes"/>
          <p:cNvSpPr txBox="1"/>
          <p:nvPr>
            <p:ph idx="1" type="body"/>
          </p:nvPr>
        </p:nvSpPr>
        <p:spPr>
          <a:xfrm>
            <a:off x="777875" y="4840288"/>
            <a:ext cx="6216600" cy="39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17072ef938_0_0:notes"/>
          <p:cNvSpPr txBox="1"/>
          <p:nvPr>
            <p:ph idx="12" type="sldNum"/>
          </p:nvPr>
        </p:nvSpPr>
        <p:spPr>
          <a:xfrm>
            <a:off x="4402138" y="9553575"/>
            <a:ext cx="3368700" cy="504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the Equation for finding Nega-Cyclic NTT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These are Viable Techniques which can be used for finding Nega-Cyclic NTT</a:t>
            </a:r>
            <a:endParaRPr/>
          </a:p>
        </p:txBody>
      </p:sp>
      <p:sp>
        <p:nvSpPr>
          <p:cNvPr id="176" name="Google Shape;176;p3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Algorithm was taken from A.C.Mert’s Thesis and His Paper CoHa NTT and This was first published for FFT as Twisted FFT in “Tangent FFT”</a:t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Placement Cordinator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869950" y="1257300"/>
            <a:ext cx="6032500" cy="33940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0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0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0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0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0"/>
          <p:cNvSpPr txBox="1"/>
          <p:nvPr>
            <p:ph idx="1" type="body"/>
          </p:nvPr>
        </p:nvSpPr>
        <p:spPr>
          <a:xfrm>
            <a:off x="3352800" y="5410200"/>
            <a:ext cx="8026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type="title"/>
          </p:nvPr>
        </p:nvSpPr>
        <p:spPr>
          <a:xfrm>
            <a:off x="3352800" y="3810000"/>
            <a:ext cx="8026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BITS_university_logo_whitevert.png" id="26" name="Google Shape;26;p10"/>
          <p:cNvPicPr preferRelativeResize="0"/>
          <p:nvPr/>
        </p:nvPicPr>
        <p:blipFill rotWithShape="1">
          <a:blip r:embed="rId3">
            <a:alphaModFix/>
          </a:blip>
          <a:srcRect b="28592" l="0" r="0" t="2"/>
          <a:stretch/>
        </p:blipFill>
        <p:spPr>
          <a:xfrm>
            <a:off x="101600" y="3352800"/>
            <a:ext cx="2743200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0"/>
          <p:cNvSpPr txBox="1"/>
          <p:nvPr/>
        </p:nvSpPr>
        <p:spPr>
          <a:xfrm>
            <a:off x="-101600" y="5257800"/>
            <a:ext cx="29464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b="0" i="0" lang="en-US" sz="2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0"/>
          <p:cNvSpPr txBox="1"/>
          <p:nvPr/>
        </p:nvSpPr>
        <p:spPr>
          <a:xfrm>
            <a:off x="203200" y="5666602"/>
            <a:ext cx="2540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b="0" i="0" sz="1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0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0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2"/>
          <p:cNvGrpSpPr/>
          <p:nvPr/>
        </p:nvGrpSpPr>
        <p:grpSpPr>
          <a:xfrm>
            <a:off x="2778517" y="6550672"/>
            <a:ext cx="9413483" cy="48665"/>
            <a:chOff x="2083888" y="6550671"/>
            <a:chExt cx="7060112" cy="48665"/>
          </a:xfrm>
        </p:grpSpPr>
        <p:sp>
          <p:nvSpPr>
            <p:cNvPr id="99" name="Google Shape;99;p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2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2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Picture 7.png" id="102" name="Google Shape;102;p12"/>
          <p:cNvPicPr preferRelativeResize="0"/>
          <p:nvPr/>
        </p:nvPicPr>
        <p:blipFill rotWithShape="1">
          <a:blip r:embed="rId2">
            <a:alphaModFix/>
          </a:blip>
          <a:srcRect b="5333" l="1923" r="0" t="0"/>
          <a:stretch/>
        </p:blipFill>
        <p:spPr>
          <a:xfrm>
            <a:off x="8839201" y="-1"/>
            <a:ext cx="2924257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12"/>
          <p:cNvGrpSpPr/>
          <p:nvPr/>
        </p:nvGrpSpPr>
        <p:grpSpPr>
          <a:xfrm>
            <a:off x="2844800" y="6553201"/>
            <a:ext cx="9347201" cy="45719"/>
            <a:chOff x="1905000" y="6553200"/>
            <a:chExt cx="7010400" cy="45719"/>
          </a:xfrm>
        </p:grpSpPr>
        <p:sp>
          <p:nvSpPr>
            <p:cNvPr id="104" name="Google Shape;104;p1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2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" name="Google Shape;107;p12"/>
          <p:cNvGrpSpPr/>
          <p:nvPr/>
        </p:nvGrpSpPr>
        <p:grpSpPr>
          <a:xfrm>
            <a:off x="0" y="1295401"/>
            <a:ext cx="9347201" cy="45719"/>
            <a:chOff x="1905000" y="6553200"/>
            <a:chExt cx="7010400" cy="45719"/>
          </a:xfrm>
        </p:grpSpPr>
        <p:sp>
          <p:nvSpPr>
            <p:cNvPr id="108" name="Google Shape;108;p1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12"/>
          <p:cNvSpPr txBox="1"/>
          <p:nvPr>
            <p:ph idx="1" type="body"/>
          </p:nvPr>
        </p:nvSpPr>
        <p:spPr>
          <a:xfrm>
            <a:off x="406400" y="152400"/>
            <a:ext cx="843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3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2"/>
          <p:cNvSpPr txBox="1"/>
          <p:nvPr>
            <p:ph idx="11" type="ftr"/>
          </p:nvPr>
        </p:nvSpPr>
        <p:spPr>
          <a:xfrm>
            <a:off x="0" y="6554056"/>
            <a:ext cx="12192000" cy="30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2"/>
          <p:cNvSpPr txBox="1"/>
          <p:nvPr>
            <p:ph idx="12" type="sldNum"/>
          </p:nvPr>
        </p:nvSpPr>
        <p:spPr>
          <a:xfrm>
            <a:off x="11815" y="6554055"/>
            <a:ext cx="12180184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3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30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0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3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3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31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2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32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3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33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33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33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33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33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3.jp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/>
          <p:nvPr/>
        </p:nvSpPr>
        <p:spPr>
          <a:xfrm>
            <a:off x="0" y="3352680"/>
            <a:ext cx="11581200" cy="2742120"/>
          </a:xfrm>
          <a:prstGeom prst="rect">
            <a:avLst/>
          </a:prstGeom>
          <a:solidFill>
            <a:srgbClr val="101141"/>
          </a:solidFill>
          <a:ln>
            <a:noFill/>
          </a:ln>
          <a:effectLst>
            <a:outerShdw blurRad="40000" rotWithShape="0" dir="5400000" dist="2304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9"/>
          <p:cNvSpPr/>
          <p:nvPr/>
        </p:nvSpPr>
        <p:spPr>
          <a:xfrm>
            <a:off x="3860640" y="6095880"/>
            <a:ext cx="3859560" cy="75240"/>
          </a:xfrm>
          <a:prstGeom prst="rect">
            <a:avLst/>
          </a:prstGeom>
          <a:solidFill>
            <a:srgbClr val="76C2E5"/>
          </a:solidFill>
          <a:ln>
            <a:noFill/>
          </a:ln>
          <a:effectLst>
            <a:outerShdw blurRad="40000" rotWithShape="0" dir="5400000" dist="2304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9"/>
          <p:cNvSpPr/>
          <p:nvPr/>
        </p:nvSpPr>
        <p:spPr>
          <a:xfrm>
            <a:off x="0" y="6095880"/>
            <a:ext cx="3859560" cy="75240"/>
          </a:xfrm>
          <a:prstGeom prst="rect">
            <a:avLst/>
          </a:prstGeom>
          <a:solidFill>
            <a:srgbClr val="FCB017"/>
          </a:solidFill>
          <a:ln>
            <a:noFill/>
          </a:ln>
          <a:effectLst>
            <a:outerShdw blurRad="40000" rotWithShape="0" dir="5400000" dist="2304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9"/>
          <p:cNvSpPr/>
          <p:nvPr/>
        </p:nvSpPr>
        <p:spPr>
          <a:xfrm>
            <a:off x="7721640" y="6095880"/>
            <a:ext cx="3859560" cy="7524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40000" rotWithShape="0" dir="5400000" dist="23040">
              <a:srgbClr val="000000">
                <a:alpha val="3411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9"/>
          <p:cNvPicPr preferRelativeResize="0"/>
          <p:nvPr/>
        </p:nvPicPr>
        <p:blipFill rotWithShape="1">
          <a:blip r:embed="rId2">
            <a:alphaModFix/>
          </a:blip>
          <a:srcRect b="28589" l="0" r="0" t="0"/>
          <a:stretch/>
        </p:blipFill>
        <p:spPr>
          <a:xfrm>
            <a:off x="101520" y="3352680"/>
            <a:ext cx="2742120" cy="197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9"/>
          <p:cNvSpPr/>
          <p:nvPr/>
        </p:nvSpPr>
        <p:spPr>
          <a:xfrm>
            <a:off x="-101520" y="5257800"/>
            <a:ext cx="2945160" cy="531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b="0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b="0" i="0" sz="2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9"/>
          <p:cNvSpPr/>
          <p:nvPr/>
        </p:nvSpPr>
        <p:spPr>
          <a:xfrm>
            <a:off x="203040" y="5666760"/>
            <a:ext cx="2539080" cy="2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/>
          <p:nvPr/>
        </p:nvSpPr>
        <p:spPr>
          <a:xfrm>
            <a:off x="4368960" y="6596280"/>
            <a:ext cx="7822080" cy="257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b="0" i="0" lang="en-US" sz="1100" u="none" cap="none" strike="noStrik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" name="Google Shape;82;p11"/>
          <p:cNvGrpSpPr/>
          <p:nvPr/>
        </p:nvGrpSpPr>
        <p:grpSpPr>
          <a:xfrm>
            <a:off x="2778480" y="6550560"/>
            <a:ext cx="9412560" cy="47520"/>
            <a:chOff x="2778480" y="6550560"/>
            <a:chExt cx="9412560" cy="47520"/>
          </a:xfrm>
        </p:grpSpPr>
        <p:sp>
          <p:nvSpPr>
            <p:cNvPr id="83" name="Google Shape;83;p11"/>
            <p:cNvSpPr/>
            <p:nvPr/>
          </p:nvSpPr>
          <p:spPr>
            <a:xfrm>
              <a:off x="6174000" y="6550560"/>
              <a:ext cx="3103560" cy="4752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1"/>
            <p:cNvSpPr/>
            <p:nvPr/>
          </p:nvSpPr>
          <p:spPr>
            <a:xfrm>
              <a:off x="9210600" y="6550560"/>
              <a:ext cx="2980440" cy="44640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1"/>
            <p:cNvSpPr/>
            <p:nvPr/>
          </p:nvSpPr>
          <p:spPr>
            <a:xfrm>
              <a:off x="2778480" y="6550560"/>
              <a:ext cx="3439800" cy="4752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6" name="Google Shape;86;p11"/>
          <p:cNvPicPr preferRelativeResize="0"/>
          <p:nvPr/>
        </p:nvPicPr>
        <p:blipFill rotWithShape="1">
          <a:blip r:embed="rId1">
            <a:alphaModFix/>
          </a:blip>
          <a:srcRect b="5315" l="1916" r="0" t="0"/>
          <a:stretch/>
        </p:blipFill>
        <p:spPr>
          <a:xfrm>
            <a:off x="8839080" y="0"/>
            <a:ext cx="2923200" cy="6915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1"/>
          <p:cNvGrpSpPr/>
          <p:nvPr/>
        </p:nvGrpSpPr>
        <p:grpSpPr>
          <a:xfrm>
            <a:off x="2844720" y="6553080"/>
            <a:ext cx="9345960" cy="44640"/>
            <a:chOff x="2844720" y="6553080"/>
            <a:chExt cx="9345960" cy="44640"/>
          </a:xfrm>
        </p:grpSpPr>
        <p:sp>
          <p:nvSpPr>
            <p:cNvPr id="88" name="Google Shape;88;p11"/>
            <p:cNvSpPr/>
            <p:nvPr/>
          </p:nvSpPr>
          <p:spPr>
            <a:xfrm>
              <a:off x="5994360" y="6553080"/>
              <a:ext cx="3103560" cy="4464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1"/>
            <p:cNvSpPr/>
            <p:nvPr/>
          </p:nvSpPr>
          <p:spPr>
            <a:xfrm>
              <a:off x="2844720" y="6553080"/>
              <a:ext cx="3148560" cy="4464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1"/>
            <p:cNvSpPr/>
            <p:nvPr/>
          </p:nvSpPr>
          <p:spPr>
            <a:xfrm>
              <a:off x="9087120" y="6553080"/>
              <a:ext cx="3103560" cy="446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" name="Google Shape;91;p11"/>
          <p:cNvGrpSpPr/>
          <p:nvPr/>
        </p:nvGrpSpPr>
        <p:grpSpPr>
          <a:xfrm>
            <a:off x="0" y="1295280"/>
            <a:ext cx="9345960" cy="44640"/>
            <a:chOff x="0" y="1295280"/>
            <a:chExt cx="9345960" cy="44640"/>
          </a:xfrm>
        </p:grpSpPr>
        <p:sp>
          <p:nvSpPr>
            <p:cNvPr id="92" name="Google Shape;92;p11"/>
            <p:cNvSpPr/>
            <p:nvPr/>
          </p:nvSpPr>
          <p:spPr>
            <a:xfrm>
              <a:off x="3149640" y="1295280"/>
              <a:ext cx="3103560" cy="4464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1"/>
            <p:cNvSpPr/>
            <p:nvPr/>
          </p:nvSpPr>
          <p:spPr>
            <a:xfrm>
              <a:off x="0" y="1295280"/>
              <a:ext cx="3148560" cy="4464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1"/>
            <p:cNvSpPr/>
            <p:nvPr/>
          </p:nvSpPr>
          <p:spPr>
            <a:xfrm>
              <a:off x="6242400" y="1295280"/>
              <a:ext cx="3103560" cy="4464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outerShdw blurRad="40000" rotWithShape="0" dir="5400000" dist="23040">
                <a:srgbClr val="000000">
                  <a:alpha val="3411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1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"/>
          <p:cNvSpPr txBox="1"/>
          <p:nvPr>
            <p:ph idx="1" type="body"/>
          </p:nvPr>
        </p:nvSpPr>
        <p:spPr>
          <a:xfrm>
            <a:off x="2498075" y="4668825"/>
            <a:ext cx="9024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/>
              <a:t>NAME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(ID</a:t>
            </a:r>
            <a:r>
              <a:rPr lang="en-US" sz="1600"/>
              <a:t>): Sriharsha Tippavajhala (2021AAPS0717H), </a:t>
            </a:r>
            <a:endParaRPr sz="1600"/>
          </a:p>
          <a:p>
            <a:pPr indent="0" lvl="0" marL="9144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600"/>
              <a:t>Dhananjay Rao T S (2021AAPS0321H),</a:t>
            </a:r>
            <a:endParaRPr sz="1600"/>
          </a:p>
          <a:p>
            <a:pPr indent="0" lvl="0" marL="91440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600"/>
              <a:t>Amit Narayan Satpathy(2021AAPS2127H)</a:t>
            </a:r>
            <a:endParaRPr/>
          </a:p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Mentor: Dr. </a:t>
            </a:r>
            <a:r>
              <a:rPr lang="en-US" sz="1600"/>
              <a:t>Subhendu Kumar Sahoo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600"/>
              <a:t> Course: ECE/EEE F366</a:t>
            </a:r>
            <a:endParaRPr/>
          </a:p>
        </p:txBody>
      </p:sp>
      <p:sp>
        <p:nvSpPr>
          <p:cNvPr id="154" name="Google Shape;154;p1"/>
          <p:cNvSpPr txBox="1"/>
          <p:nvPr/>
        </p:nvSpPr>
        <p:spPr>
          <a:xfrm>
            <a:off x="2753361" y="3583633"/>
            <a:ext cx="7686040" cy="1002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Implementation of Hash Module for Kyber</a:t>
            </a:r>
            <a:endParaRPr b="1" i="1" sz="2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"/>
          <p:cNvSpPr txBox="1"/>
          <p:nvPr/>
        </p:nvSpPr>
        <p:spPr>
          <a:xfrm>
            <a:off x="3733799" y="3352801"/>
            <a:ext cx="670560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"/>
          <p:cNvSpPr txBox="1"/>
          <p:nvPr/>
        </p:nvSpPr>
        <p:spPr>
          <a:xfrm>
            <a:off x="10138954" y="0"/>
            <a:ext cx="19543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Date:</a:t>
            </a:r>
            <a:r>
              <a:rPr lang="en-US" sz="1800">
                <a:solidFill>
                  <a:schemeClr val="lt1"/>
                </a:solidFill>
              </a:rPr>
              <a:t>23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800">
                <a:solidFill>
                  <a:schemeClr val="lt1"/>
                </a:solidFill>
              </a:rPr>
              <a:t>11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800">
                <a:solidFill>
                  <a:schemeClr val="lt1"/>
                </a:solidFill>
              </a:rPr>
              <a:t>2024</a:t>
            </a: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"/>
          <p:cNvSpPr/>
          <p:nvPr/>
        </p:nvSpPr>
        <p:spPr>
          <a:xfrm>
            <a:off x="660399" y="502919"/>
            <a:ext cx="11875393" cy="45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 txBox="1"/>
          <p:nvPr/>
        </p:nvSpPr>
        <p:spPr>
          <a:xfrm>
            <a:off x="748324" y="6043144"/>
            <a:ext cx="44995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"/>
          <p:cNvSpPr txBox="1"/>
          <p:nvPr/>
        </p:nvSpPr>
        <p:spPr>
          <a:xfrm>
            <a:off x="7096539" y="5889256"/>
            <a:ext cx="458567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Padder</a:t>
            </a:r>
            <a:endParaRPr/>
          </a:p>
        </p:txBody>
      </p:sp>
      <p:sp>
        <p:nvSpPr>
          <p:cNvPr id="165" name="Google Shape;165;p2"/>
          <p:cNvSpPr txBox="1"/>
          <p:nvPr/>
        </p:nvSpPr>
        <p:spPr>
          <a:xfrm>
            <a:off x="1562875" y="3640125"/>
            <a:ext cx="8977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166" name="Google Shape;16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118" y="1511112"/>
            <a:ext cx="11625759" cy="383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7072ef938_0_0"/>
          <p:cNvSpPr txBox="1"/>
          <p:nvPr>
            <p:ph idx="1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Serial In and Parallel Out Register</a:t>
            </a:r>
            <a:endParaRPr/>
          </a:p>
        </p:txBody>
      </p:sp>
      <p:pic>
        <p:nvPicPr>
          <p:cNvPr id="173" name="Google Shape;173;g317072ef93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175" y="1416650"/>
            <a:ext cx="8611376" cy="43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"/>
          <p:cNvSpPr txBox="1"/>
          <p:nvPr>
            <p:ph idx="1" type="body"/>
          </p:nvPr>
        </p:nvSpPr>
        <p:spPr>
          <a:xfrm>
            <a:off x="406400" y="152400"/>
            <a:ext cx="8432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/>
              <a:t>F Permutation</a:t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660399" y="502919"/>
            <a:ext cx="11875393" cy="457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&#10;20 November 2024&#10;19:08&#10;" id="180" name="Google Shape;18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100" y="1295400"/>
            <a:ext cx="9106850" cy="513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 txBox="1"/>
          <p:nvPr>
            <p:ph type="title"/>
          </p:nvPr>
        </p:nvSpPr>
        <p:spPr>
          <a:xfrm>
            <a:off x="188845" y="193250"/>
            <a:ext cx="8577470" cy="10049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4100"/>
              <a:t>Round</a:t>
            </a:r>
            <a:endParaRPr sz="4100"/>
          </a:p>
        </p:txBody>
      </p:sp>
      <p:pic>
        <p:nvPicPr>
          <p:cNvPr descr="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" id="186" name="Google Shape;186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900" y="1479575"/>
            <a:ext cx="9460070" cy="144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750" y="2920750"/>
            <a:ext cx="5743475" cy="31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5975" y="2995200"/>
            <a:ext cx="5663976" cy="2258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"/>
          <p:cNvSpPr txBox="1"/>
          <p:nvPr>
            <p:ph type="title"/>
          </p:nvPr>
        </p:nvSpPr>
        <p:spPr>
          <a:xfrm>
            <a:off x="238540" y="190464"/>
            <a:ext cx="8825948" cy="1242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4100"/>
              <a:t>Parallel In Serial Out</a:t>
            </a:r>
            <a:endParaRPr sz="4100"/>
          </a:p>
        </p:txBody>
      </p:sp>
      <p:pic>
        <p:nvPicPr>
          <p:cNvPr descr="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Ink Drawings&#10;" id="194" name="Google Shape;19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8150" y="1549300"/>
            <a:ext cx="6826825" cy="490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200" name="Google Shape;200;p7"/>
          <p:cNvSpPr txBox="1"/>
          <p:nvPr>
            <p:ph idx="1" type="subTitle"/>
          </p:nvPr>
        </p:nvSpPr>
        <p:spPr>
          <a:xfrm>
            <a:off x="117867" y="1418400"/>
            <a:ext cx="11262437" cy="49327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457200" marR="1346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500"/>
              <a:t>1. Bisheh-Niasar, Mojtaba, Reza Azarderakhsh, and Mehran Mozaffari-Kermani. "Instruction-set accelerated implementation of CRYSTALS-Kyber." IEEE Transactions on Circuits and Systems I: Regular Papers 68.11 (2021): 4648-4659. </a:t>
            </a:r>
            <a:endParaRPr sz="1500"/>
          </a:p>
          <a:p>
            <a:pPr indent="0" lvl="1" marL="457200" marR="1346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500"/>
              <a:t>2 Mestiri, Hassen, et al. "High throughput pipelined hardware implementation of the KECCAK hash function." 2016 International Symposium on Signal, Image, Video and Communications (ISIVC). IEEE, 2016. </a:t>
            </a:r>
            <a:endParaRPr sz="1500"/>
          </a:p>
          <a:p>
            <a:pPr indent="0" lvl="1" marL="457200" marR="1346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500"/>
              <a:t>3 Maache, Ahmed, and Abdesattar Kalache. "FPGA-based tunable Keccak core." 2023 International Conference on Smart Applications, Communications and Networking (SmartNets). IEEE, 2023.</a:t>
            </a:r>
            <a:endParaRPr sz="1500"/>
          </a:p>
          <a:p>
            <a:pPr indent="0" lvl="1" marL="457200" marR="1346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500"/>
              <a:t>4 Assad, F., et al. "An optimal hardware implementation of the KECCAK hash function on virtex-5 FPGA." 2019 International Conference on Systems of Collaboration Big Data, Internet of Things &amp; Security (SysCoBIoTS). IEEE, 2019. </a:t>
            </a:r>
            <a:endParaRPr sz="1500"/>
          </a:p>
          <a:p>
            <a:pPr indent="457200" lvl="1" marL="0" marR="1346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500"/>
              <a:t>5 Dworkin, Morris J. "SHA-3 standard: Permutation-based hash and extendable-output functions." (2015).</a:t>
            </a:r>
            <a:endParaRPr sz="1500"/>
          </a:p>
          <a:p>
            <a:pPr indent="0" lvl="1" marL="457200" marR="1346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500"/>
              <a:t> 6 Guo, Wenbo &amp; Li, Shuguo &amp; Kong, Liang. (2021). An Efficient Implementation of KYBER. IEEE Transactions on Circuits and Systems II: Express Briefs. PP. 1-1. 10.1109/TCSII.2021.3103184</a:t>
            </a:r>
            <a:endParaRPr sz="1500"/>
          </a:p>
          <a:p>
            <a:pPr indent="0" lvl="1" marL="457200" marR="1346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500"/>
              <a:t>7.</a:t>
            </a:r>
            <a:r>
              <a:rPr lang="en-US" sz="1500">
                <a:solidFill>
                  <a:srgbClr val="222222"/>
                </a:solidFill>
                <a:highlight>
                  <a:schemeClr val="lt1"/>
                </a:highlight>
              </a:rPr>
              <a:t>Cryptogra-phy, Elliptic Curve. "William Stallings. Cryptography and Network Security Principles and Practices." </a:t>
            </a:r>
            <a:r>
              <a:rPr i="1" lang="en-US" sz="1500">
                <a:solidFill>
                  <a:srgbClr val="222222"/>
                </a:solidFill>
                <a:highlight>
                  <a:schemeClr val="lt1"/>
                </a:highlight>
              </a:rPr>
              <a:t>PGM334401. htm</a:t>
            </a:r>
            <a:r>
              <a:rPr lang="en-US" sz="1500">
                <a:solidFill>
                  <a:srgbClr val="222222"/>
                </a:solidFill>
                <a:highlight>
                  <a:schemeClr val="lt1"/>
                </a:highlight>
              </a:rPr>
              <a:t>.</a:t>
            </a:r>
            <a:endParaRPr sz="15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400050" lvl="0" marL="5651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 txBox="1"/>
          <p:nvPr/>
        </p:nvSpPr>
        <p:spPr>
          <a:xfrm>
            <a:off x="4185669" y="2921168"/>
            <a:ext cx="4840344" cy="157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Sriharsha Tippavajhala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0x01010036F3B4133FCAE343B76BC4F5F6B694D1</vt:lpwstr>
  </property>
</Properties>
</file>